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5702FE-88E2-07A4-A43C-68311AE4D01A}" name="Anatolii Kmetiuk" initials="AK" userId="887e314c269546d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4"/>
    <p:restoredTop sz="94658"/>
  </p:normalViewPr>
  <p:slideViewPr>
    <p:cSldViewPr snapToGrid="0">
      <p:cViewPr varScale="1">
        <p:scale>
          <a:sx n="120" d="100"/>
          <a:sy n="120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brief and referenced conversation.</a:t>
            </a:r>
          </a:p>
          <a:p>
            <a:r>
              <a:t>- Visual direction: /Users/anatolii/Documents/HomeVault/Rebranding/AO Play.pdf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brief and referenced conversation.</a:t>
            </a:r>
          </a:p>
          <a:p>
            <a:r>
              <a:t>- Visual direction: /Users/anatolii/Documents/HomeVault/Rebranding/AO Play.pdf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brief and referenced conversation.</a:t>
            </a:r>
          </a:p>
          <a:p>
            <a:r>
              <a:t>- Visual direction: /Users/anatolii/Documents/HomeVault/Rebranding/AO Play.pdf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brief and referenced conversation.</a:t>
            </a:r>
          </a:p>
          <a:p>
            <a:r>
              <a:t>- Visual direction: /Users/anatolii/Documents/HomeVault/Rebranding/AO Play.pdf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brief and referenced conversation.</a:t>
            </a:r>
          </a:p>
          <a:p>
            <a:r>
              <a:t>- Visual direction: /Users/anatolii/Documents/HomeVault/Rebranding/AO Play.pdf</a:t>
            </a:r>
          </a:p>
          <a:p>
            <a:r>
              <a:t>- OpenSSF Criticality Score: https://github.com/ossf/criticality_score</a:t>
            </a:r>
          </a:p>
          <a:p>
            <a:r>
              <a:t>- OpenSSF Scorecard: https://github.com/ossf/scorecard/blob/main/README.md</a:t>
            </a:r>
          </a:p>
          <a:p>
            <a:r>
              <a:t>
[Sources]
- https://github.com/ossf/criticality_score
- https://github.com/ossf/scorecard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project brief and referenced conversation.</a:t>
            </a:r>
          </a:p>
          <a:p>
            <a:r>
              <a:t>- Visual direction: /Users/anatolii/Documents/HomeVault/Rebranding/AO Play.pdf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ssf/criticality_scor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ssf/scorecard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95CACF9D-4E51-4FBB-9010-75C57461DC0F}"/>
              </a:ext>
            </a:extLst>
          </p:cNvPr>
          <p:cNvSpPr>
            <a:spLocks noGrp="1"/>
          </p:cNvSpPr>
          <p:nvPr/>
        </p:nvSpPr>
        <p:spPr>
          <a:xfrm>
            <a:off x="2873771" y="3042923"/>
            <a:ext cx="7271125" cy="12276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2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Scala Ecosystem</a:t>
            </a:r>
            <a:r>
              <a:rPr lang="en-AU" sz="32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 Security</a:t>
            </a:r>
            <a:r>
              <a:rPr sz="32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 Model</a:t>
            </a:r>
          </a:p>
        </p:txBody>
      </p:sp>
    </p:spTree>
    <p:extLst>
      <p:ext uri="{BB962C8B-B14F-4D97-AF65-F5344CB8AC3E}">
        <p14:creationId xmlns:p14="http://schemas.microsoft.com/office/powerpoint/2010/main" val="185807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title">
            <a:extLst>
              <a:ext uri="{FF2B5EF4-FFF2-40B4-BE49-F238E27FC236}">
                <a16:creationId xmlns:a16="http://schemas.microsoft.com/office/drawing/2014/main" id="{51BCD5CC-FA97-0C03-2A6B-B11F375DB63D}"/>
              </a:ext>
            </a:extLst>
          </p:cNvPr>
          <p:cNvSpPr>
            <a:spLocks noGrp="1"/>
          </p:cNvSpPr>
          <p:nvPr/>
        </p:nvSpPr>
        <p:spPr>
          <a:xfrm>
            <a:off x="742950" y="666750"/>
            <a:ext cx="107061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Ecosystem </a:t>
            </a:r>
            <a:r>
              <a:rPr lang="en-AU"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is a </a:t>
            </a:r>
            <a:r>
              <a: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Graph</a:t>
            </a:r>
            <a:endParaRPr sz="3225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" name="graph-header-rule">
            <a:extLst>
              <a:ext uri="{FF2B5EF4-FFF2-40B4-BE49-F238E27FC236}">
                <a16:creationId xmlns:a16="http://schemas.microsoft.com/office/drawing/2014/main" id="{3208D5F0-8542-42CE-9091-A3FEC40A2ABB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0896600" cy="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4" name="graph-node-1">
            <a:extLst>
              <a:ext uri="{FF2B5EF4-FFF2-40B4-BE49-F238E27FC236}">
                <a16:creationId xmlns:a16="http://schemas.microsoft.com/office/drawing/2014/main" id="{D00FB12F-B797-4F59-8556-32A77923EB0D}"/>
              </a:ext>
            </a:extLst>
          </p:cNvPr>
          <p:cNvSpPr>
            <a:spLocks noGrp="1"/>
          </p:cNvSpPr>
          <p:nvPr/>
        </p:nvSpPr>
        <p:spPr>
          <a:xfrm>
            <a:off x="1047750" y="2286000"/>
            <a:ext cx="1428750" cy="647700"/>
          </a:xfrm>
          <a:prstGeom prst="roundRect">
            <a:avLst>
              <a:gd name="adj" fmla="val 23529"/>
            </a:avLst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D81038-5BA2-46CC-B496-77531EFA78AA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6" name="graph-node-2">
            <a:extLst>
              <a:ext uri="{FF2B5EF4-FFF2-40B4-BE49-F238E27FC236}">
                <a16:creationId xmlns:a16="http://schemas.microsoft.com/office/drawing/2014/main" id="{1ED40F1E-87F5-484D-B464-A3DA87726831}"/>
              </a:ext>
            </a:extLst>
          </p:cNvPr>
          <p:cNvSpPr>
            <a:spLocks noGrp="1"/>
          </p:cNvSpPr>
          <p:nvPr/>
        </p:nvSpPr>
        <p:spPr>
          <a:xfrm>
            <a:off x="3333750" y="1857375"/>
            <a:ext cx="1333500" cy="590550"/>
          </a:xfrm>
          <a:prstGeom prst="roundRect">
            <a:avLst>
              <a:gd name="adj" fmla="val 25806"/>
            </a:avLst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D35E1-35A1-4100-BE5C-78B6134BAC6A}"/>
              </a:ext>
            </a:extLst>
          </p:cNvPr>
          <p:cNvSpPr>
            <a:spLocks noGrp="1"/>
          </p:cNvSpPr>
          <p:nvPr/>
        </p:nvSpPr>
        <p:spPr>
          <a:xfrm>
            <a:off x="3429000" y="1952625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Library A</a:t>
            </a:r>
          </a:p>
        </p:txBody>
      </p:sp>
      <p:sp>
        <p:nvSpPr>
          <p:cNvPr id="8" name="graph-node-3">
            <a:extLst>
              <a:ext uri="{FF2B5EF4-FFF2-40B4-BE49-F238E27FC236}">
                <a16:creationId xmlns:a16="http://schemas.microsoft.com/office/drawing/2014/main" id="{26BA0359-F3AE-436A-9EA5-E5E5A0E9D85C}"/>
              </a:ext>
            </a:extLst>
          </p:cNvPr>
          <p:cNvSpPr>
            <a:spLocks noGrp="1"/>
          </p:cNvSpPr>
          <p:nvPr/>
        </p:nvSpPr>
        <p:spPr>
          <a:xfrm>
            <a:off x="3333750" y="3048000"/>
            <a:ext cx="1333500" cy="590550"/>
          </a:xfrm>
          <a:prstGeom prst="roundRect">
            <a:avLst>
              <a:gd name="adj" fmla="val 25806"/>
            </a:avLst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0EB478-2CA7-438C-8856-5300CB45AB4D}"/>
              </a:ext>
            </a:extLst>
          </p:cNvPr>
          <p:cNvSpPr>
            <a:spLocks noGrp="1"/>
          </p:cNvSpPr>
          <p:nvPr/>
        </p:nvSpPr>
        <p:spPr>
          <a:xfrm>
            <a:off x="3429000" y="314325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Library B</a:t>
            </a:r>
          </a:p>
        </p:txBody>
      </p:sp>
      <p:sp>
        <p:nvSpPr>
          <p:cNvPr id="10" name="graph-node-4">
            <a:extLst>
              <a:ext uri="{FF2B5EF4-FFF2-40B4-BE49-F238E27FC236}">
                <a16:creationId xmlns:a16="http://schemas.microsoft.com/office/drawing/2014/main" id="{170E4976-5AB9-4E47-801B-902C9DA6D30C}"/>
              </a:ext>
            </a:extLst>
          </p:cNvPr>
          <p:cNvSpPr>
            <a:spLocks noGrp="1"/>
          </p:cNvSpPr>
          <p:nvPr/>
        </p:nvSpPr>
        <p:spPr>
          <a:xfrm>
            <a:off x="1047750" y="4000500"/>
            <a:ext cx="1428750" cy="647700"/>
          </a:xfrm>
          <a:prstGeom prst="roundRect">
            <a:avLst>
              <a:gd name="adj" fmla="val 23529"/>
            </a:avLst>
          </a:prstGeom>
          <a:solidFill>
            <a:srgbClr val="1223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4E032C-A630-49FC-8C63-06C1610B43BC}"/>
              </a:ext>
            </a:extLst>
          </p:cNvPr>
          <p:cNvSpPr>
            <a:spLocks noGrp="1"/>
          </p:cNvSpPr>
          <p:nvPr/>
        </p:nvSpPr>
        <p:spPr>
          <a:xfrm>
            <a:off x="1143000" y="4095750"/>
            <a:ext cx="123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Build tool</a:t>
            </a:r>
          </a:p>
        </p:txBody>
      </p:sp>
      <p:sp>
        <p:nvSpPr>
          <p:cNvPr id="12" name="graph-node-5">
            <a:extLst>
              <a:ext uri="{FF2B5EF4-FFF2-40B4-BE49-F238E27FC236}">
                <a16:creationId xmlns:a16="http://schemas.microsoft.com/office/drawing/2014/main" id="{C6EF7CD5-3B50-4010-852F-37D6550BBC11}"/>
              </a:ext>
            </a:extLst>
          </p:cNvPr>
          <p:cNvSpPr>
            <a:spLocks noGrp="1"/>
          </p:cNvSpPr>
          <p:nvPr/>
        </p:nvSpPr>
        <p:spPr>
          <a:xfrm>
            <a:off x="3333750" y="4476750"/>
            <a:ext cx="1333500" cy="590550"/>
          </a:xfrm>
          <a:prstGeom prst="roundRect">
            <a:avLst>
              <a:gd name="adj" fmla="val 25806"/>
            </a:avLst>
          </a:prstGeom>
          <a:solidFill>
            <a:srgbClr val="1223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5D74AE-F731-497A-AF2B-4EF0FE172732}"/>
              </a:ext>
            </a:extLst>
          </p:cNvPr>
          <p:cNvSpPr>
            <a:spLocks noGrp="1"/>
          </p:cNvSpPr>
          <p:nvPr/>
        </p:nvSpPr>
        <p:spPr>
          <a:xfrm>
            <a:off x="3429000" y="457200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AU"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Lint Tool</a:t>
            </a:r>
            <a:endParaRPr sz="1125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cxnSp>
        <p:nvCxnSpPr>
          <p:cNvPr id="54" name="Straight Arrow Connector 53"/>
          <p:cNvCxnSpPr>
            <a:stCxn id="4" idx="3"/>
            <a:endCxn id="6" idx="1"/>
          </p:cNvCxnSpPr>
          <p:nvPr/>
        </p:nvCxnSpPr>
        <p:spPr>
          <a:xfrm flipV="1">
            <a:off x="2476500" y="2152650"/>
            <a:ext cx="857250" cy="457200"/>
          </a:xfrm>
          <a:prstGeom prst="straightConnector1">
            <a:avLst/>
          </a:prstGeom>
          <a:ln w="28575" cap="rnd">
            <a:solidFill>
              <a:srgbClr val="55D9D5"/>
            </a:solidFill>
            <a:prstDash val="solid"/>
            <a:headEnd type="none"/>
            <a:tailEnd type="triangle"/>
          </a:ln>
        </p:spPr>
      </p:cxnSp>
      <p:cxnSp>
        <p:nvCxnSpPr>
          <p:cNvPr id="55" name="Straight Arrow Connector 54"/>
          <p:cNvCxnSpPr>
            <a:stCxn id="4" idx="3"/>
            <a:endCxn id="8" idx="1"/>
          </p:cNvCxnSpPr>
          <p:nvPr/>
        </p:nvCxnSpPr>
        <p:spPr>
          <a:xfrm>
            <a:off x="2476500" y="2609850"/>
            <a:ext cx="857250" cy="733425"/>
          </a:xfrm>
          <a:prstGeom prst="straightConnector1">
            <a:avLst/>
          </a:prstGeom>
          <a:ln w="28575">
            <a:solidFill>
              <a:srgbClr val="55D9D5"/>
            </a:solidFill>
            <a:prstDash val="solid"/>
            <a:tailEnd type="triangle"/>
          </a:ln>
        </p:spPr>
      </p:cxnSp>
      <p:cxnSp>
        <p:nvCxnSpPr>
          <p:cNvPr id="56" name="Straight Arrow Connector 55"/>
          <p:cNvCxnSpPr>
            <a:stCxn id="10" idx="0"/>
            <a:endCxn id="4" idx="2"/>
          </p:cNvCxnSpPr>
          <p:nvPr/>
        </p:nvCxnSpPr>
        <p:spPr>
          <a:xfrm flipV="1">
            <a:off x="1762125" y="2933700"/>
            <a:ext cx="0" cy="1066800"/>
          </a:xfrm>
          <a:prstGeom prst="straightConnector1">
            <a:avLst/>
          </a:prstGeom>
          <a:ln w="28575">
            <a:solidFill>
              <a:srgbClr val="FFD166"/>
            </a:solidFill>
            <a:prstDash val="solid"/>
            <a:headEnd type="triangle"/>
            <a:tailEnd type="none"/>
          </a:ln>
        </p:spPr>
      </p:cxnSp>
      <p:cxnSp>
        <p:nvCxnSpPr>
          <p:cNvPr id="57" name="Elbow Connector 56"/>
          <p:cNvCxnSpPr>
            <a:cxnSpLocks/>
            <a:stCxn id="12" idx="1"/>
            <a:endCxn id="4" idx="1"/>
          </p:cNvCxnSpPr>
          <p:nvPr/>
        </p:nvCxnSpPr>
        <p:spPr>
          <a:xfrm rot="10800000">
            <a:off x="1047750" y="2609851"/>
            <a:ext cx="2286000" cy="2162175"/>
          </a:xfrm>
          <a:prstGeom prst="bentConnector3">
            <a:avLst>
              <a:gd name="adj1" fmla="val 110000"/>
            </a:avLst>
          </a:prstGeom>
          <a:ln w="28575">
            <a:solidFill>
              <a:srgbClr val="FFD166"/>
            </a:solidFill>
            <a:prstDash val="solid"/>
            <a:headEnd type="triangle"/>
            <a:tailEnd type="none"/>
          </a:ln>
        </p:spPr>
      </p:cxnSp>
      <p:cxnSp>
        <p:nvCxnSpPr>
          <p:cNvPr id="58" name="Straight Arrow Connector 57"/>
          <p:cNvCxnSpPr>
            <a:stCxn id="8" idx="2"/>
            <a:endCxn id="12" idx="0"/>
          </p:cNvCxnSpPr>
          <p:nvPr/>
        </p:nvCxnSpPr>
        <p:spPr>
          <a:xfrm>
            <a:off x="4000500" y="3638550"/>
            <a:ext cx="0" cy="838200"/>
          </a:xfrm>
          <a:prstGeom prst="straightConnector1">
            <a:avLst/>
          </a:prstGeom>
          <a:ln w="19050">
            <a:solidFill>
              <a:srgbClr val="FFD166"/>
            </a:solidFill>
            <a:prstDash val="solid"/>
            <a:headEnd type="none"/>
            <a:tailEnd type="triangle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3E1C8CA6-212D-4340-A304-5DB723FE39A8}"/>
              </a:ext>
            </a:extLst>
          </p:cNvPr>
          <p:cNvSpPr>
            <a:spLocks noGrp="1"/>
          </p:cNvSpPr>
          <p:nvPr/>
        </p:nvSpPr>
        <p:spPr>
          <a:xfrm>
            <a:off x="6572249" y="1828799"/>
            <a:ext cx="4248151" cy="26669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lang="en-AU" sz="16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Each node is scored along 3 dimensions</a:t>
            </a:r>
            <a:endParaRPr sz="1600" b="1">
              <a:solidFill>
                <a:srgbClr val="AAB4C2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0" name="selected-node-panel">
            <a:extLst>
              <a:ext uri="{FF2B5EF4-FFF2-40B4-BE49-F238E27FC236}">
                <a16:creationId xmlns:a16="http://schemas.microsoft.com/office/drawing/2014/main" id="{898621BB-59A8-48D3-9FAC-3A7DD526FA75}"/>
              </a:ext>
            </a:extLst>
          </p:cNvPr>
          <p:cNvSpPr>
            <a:spLocks noGrp="1"/>
          </p:cNvSpPr>
          <p:nvPr/>
        </p:nvSpPr>
        <p:spPr>
          <a:xfrm>
            <a:off x="6477000" y="2143125"/>
            <a:ext cx="4476750" cy="2857500"/>
          </a:xfrm>
          <a:prstGeom prst="roundRect">
            <a:avLst>
              <a:gd name="adj" fmla="val 7333"/>
            </a:avLst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E889C3-F616-46DF-8097-1E5D4C340321}"/>
              </a:ext>
            </a:extLst>
          </p:cNvPr>
          <p:cNvSpPr>
            <a:spLocks noGrp="1"/>
          </p:cNvSpPr>
          <p:nvPr/>
        </p:nvSpPr>
        <p:spPr>
          <a:xfrm>
            <a:off x="6858000" y="24574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180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Library B</a:t>
            </a:r>
            <a:endParaRPr sz="1800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CC91DE-799C-4090-BF0C-EB225BB27447}"/>
              </a:ext>
            </a:extLst>
          </p:cNvPr>
          <p:cNvSpPr>
            <a:spLocks noGrp="1"/>
          </p:cNvSpPr>
          <p:nvPr/>
        </p:nvSpPr>
        <p:spPr>
          <a:xfrm>
            <a:off x="6858000" y="3143250"/>
            <a:ext cx="1638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VALUE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1B112D9-3F68-4E4F-B61F-102240FC485D}"/>
              </a:ext>
            </a:extLst>
          </p:cNvPr>
          <p:cNvSpPr>
            <a:spLocks noGrp="1"/>
          </p:cNvSpPr>
          <p:nvPr/>
        </p:nvSpPr>
        <p:spPr>
          <a:xfrm>
            <a:off x="8572500" y="3200400"/>
            <a:ext cx="1809750" cy="114300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0">
            <a:noFill/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9C4ED1B-CD0B-488B-8BA4-0EF219150E52}"/>
              </a:ext>
            </a:extLst>
          </p:cNvPr>
          <p:cNvSpPr>
            <a:spLocks noGrp="1"/>
          </p:cNvSpPr>
          <p:nvPr/>
        </p:nvSpPr>
        <p:spPr>
          <a:xfrm>
            <a:off x="8572500" y="3200400"/>
            <a:ext cx="1375410" cy="114300"/>
          </a:xfrm>
          <a:prstGeom prst="roundRect">
            <a:avLst>
              <a:gd name="adj" fmla="val 50000"/>
            </a:avLst>
          </a:prstGeom>
          <a:solidFill>
            <a:srgbClr val="55D9D5"/>
          </a:solidFill>
          <a:ln w="0">
            <a:noFill/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367041-E734-4A07-8903-5FFAD7086CFD}"/>
              </a:ext>
            </a:extLst>
          </p:cNvPr>
          <p:cNvSpPr>
            <a:spLocks noGrp="1"/>
          </p:cNvSpPr>
          <p:nvPr/>
        </p:nvSpPr>
        <p:spPr>
          <a:xfrm>
            <a:off x="10458450" y="31432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0–1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C17873-CD31-4EA8-BAAC-B7849ADF7B42}"/>
              </a:ext>
            </a:extLst>
          </p:cNvPr>
          <p:cNvSpPr>
            <a:spLocks noGrp="1"/>
          </p:cNvSpPr>
          <p:nvPr/>
        </p:nvSpPr>
        <p:spPr>
          <a:xfrm>
            <a:off x="6858000" y="3714750"/>
            <a:ext cx="1638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MAINTENANCE HEALTH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2D5B1C5-BAEA-4498-BF70-51868DB3C4AE}"/>
              </a:ext>
            </a:extLst>
          </p:cNvPr>
          <p:cNvSpPr>
            <a:spLocks noGrp="1"/>
          </p:cNvSpPr>
          <p:nvPr/>
        </p:nvSpPr>
        <p:spPr>
          <a:xfrm>
            <a:off x="8572500" y="3771900"/>
            <a:ext cx="1809750" cy="114300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0">
            <a:noFill/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4BF8830-7CBC-4F44-8771-B7C9258A7979}"/>
              </a:ext>
            </a:extLst>
          </p:cNvPr>
          <p:cNvSpPr>
            <a:spLocks noGrp="1"/>
          </p:cNvSpPr>
          <p:nvPr/>
        </p:nvSpPr>
        <p:spPr>
          <a:xfrm>
            <a:off x="8572500" y="3771900"/>
            <a:ext cx="868680" cy="114300"/>
          </a:xfrm>
          <a:prstGeom prst="roundRect">
            <a:avLst>
              <a:gd name="adj" fmla="val 50000"/>
            </a:avLst>
          </a:prstGeom>
          <a:solidFill>
            <a:srgbClr val="A6DF66"/>
          </a:solidFill>
          <a:ln w="0">
            <a:noFill/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ED25B0-42DF-41E7-B513-4F1DB340ACF1}"/>
              </a:ext>
            </a:extLst>
          </p:cNvPr>
          <p:cNvSpPr>
            <a:spLocks noGrp="1"/>
          </p:cNvSpPr>
          <p:nvPr/>
        </p:nvSpPr>
        <p:spPr>
          <a:xfrm>
            <a:off x="10458450" y="3714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0–1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B08C0B-3B1A-4789-9DD5-7E8D4E6B31D0}"/>
              </a:ext>
            </a:extLst>
          </p:cNvPr>
          <p:cNvSpPr>
            <a:spLocks noGrp="1"/>
          </p:cNvSpPr>
          <p:nvPr/>
        </p:nvSpPr>
        <p:spPr>
          <a:xfrm>
            <a:off x="6858000" y="4286250"/>
            <a:ext cx="1638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SECURITY HEALTH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CBD0D618-2C53-42A3-9E04-5F3F74B3119A}"/>
              </a:ext>
            </a:extLst>
          </p:cNvPr>
          <p:cNvSpPr>
            <a:spLocks noGrp="1"/>
          </p:cNvSpPr>
          <p:nvPr/>
        </p:nvSpPr>
        <p:spPr>
          <a:xfrm>
            <a:off x="8572500" y="4343400"/>
            <a:ext cx="1809750" cy="114300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0">
            <a:noFill/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D778B03-27FD-4DFB-B469-17210F82A53A}"/>
              </a:ext>
            </a:extLst>
          </p:cNvPr>
          <p:cNvSpPr>
            <a:spLocks noGrp="1"/>
          </p:cNvSpPr>
          <p:nvPr/>
        </p:nvSpPr>
        <p:spPr>
          <a:xfrm>
            <a:off x="8572500" y="4343400"/>
            <a:ext cx="1122045" cy="1143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54F819-95B8-432F-B2F9-2752BC653AF2}"/>
              </a:ext>
            </a:extLst>
          </p:cNvPr>
          <p:cNvSpPr>
            <a:spLocks noGrp="1"/>
          </p:cNvSpPr>
          <p:nvPr/>
        </p:nvSpPr>
        <p:spPr>
          <a:xfrm>
            <a:off x="10458450" y="42862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defRPr sz="825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0–1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1916FF-82CE-4245-A4F2-CE8156F10BE9}"/>
              </a:ext>
            </a:extLst>
          </p:cNvPr>
          <p:cNvSpPr>
            <a:spLocks noGrp="1"/>
          </p:cNvSpPr>
          <p:nvPr/>
        </p:nvSpPr>
        <p:spPr>
          <a:xfrm>
            <a:off x="952500" y="54292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825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EDGE TYPES</a:t>
            </a:r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3E74D9CD-1030-456E-8C7B-3BEB85424FEC}"/>
              </a:ext>
            </a:extLst>
          </p:cNvPr>
          <p:cNvSpPr>
            <a:spLocks noGrp="1"/>
          </p:cNvSpPr>
          <p:nvPr/>
        </p:nvSpPr>
        <p:spPr>
          <a:xfrm>
            <a:off x="2095500" y="5534025"/>
            <a:ext cx="400050" cy="0"/>
          </a:xfrm>
          <a:prstGeom prst="line">
            <a:avLst/>
          </a:prstGeom>
          <a:noFill/>
          <a:ln w="38100">
            <a:solidFill>
              <a:srgbClr val="55D9D5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6116068-3DC0-4BE9-BB60-873CA0A0C909}"/>
              </a:ext>
            </a:extLst>
          </p:cNvPr>
          <p:cNvSpPr>
            <a:spLocks noGrp="1"/>
          </p:cNvSpPr>
          <p:nvPr/>
        </p:nvSpPr>
        <p:spPr>
          <a:xfrm>
            <a:off x="2609850" y="54102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AU" sz="975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Maven dependency</a:t>
            </a:r>
            <a:endParaRPr sz="975" b="0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D22A1134-7057-4F0E-9642-B9CF77972F95}"/>
              </a:ext>
            </a:extLst>
          </p:cNvPr>
          <p:cNvSpPr>
            <a:spLocks noGrp="1"/>
          </p:cNvSpPr>
          <p:nvPr/>
        </p:nvSpPr>
        <p:spPr>
          <a:xfrm>
            <a:off x="4381500" y="5534025"/>
            <a:ext cx="400050" cy="0"/>
          </a:xfrm>
          <a:prstGeom prst="line">
            <a:avLst/>
          </a:prstGeom>
          <a:noFill/>
          <a:ln w="381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38549B-C0B0-412A-9933-14D4B73B8FBB}"/>
              </a:ext>
            </a:extLst>
          </p:cNvPr>
          <p:cNvSpPr>
            <a:spLocks noGrp="1"/>
          </p:cNvSpPr>
          <p:nvPr/>
        </p:nvSpPr>
        <p:spPr>
          <a:xfrm>
            <a:off x="4895850" y="54102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75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Build / tooling</a:t>
            </a:r>
            <a:r>
              <a:rPr lang="en-AU" sz="975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 / infrastructure</a:t>
            </a:r>
            <a:endParaRPr sz="975" b="0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BDB8F45-7EEE-4840-8D10-ACD4E69BCE23}"/>
              </a:ext>
            </a:extLst>
          </p:cNvPr>
          <p:cNvSpPr>
            <a:spLocks noGrp="1"/>
          </p:cNvSpPr>
          <p:nvPr/>
        </p:nvSpPr>
        <p:spPr>
          <a:xfrm>
            <a:off x="952500" y="600075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Nodes are software components; edges are software dependencies.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23DDCA-FC2F-BD8F-7CB7-A67644BB2C0F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4667250" y="3343275"/>
            <a:ext cx="1809750" cy="228600"/>
          </a:xfrm>
          <a:prstGeom prst="line">
            <a:avLst/>
          </a:prstGeom>
          <a:ln w="2540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2" name="eyebrow-2">
            <a:extLst>
              <a:ext uri="{FF2B5EF4-FFF2-40B4-BE49-F238E27FC236}">
                <a16:creationId xmlns:a16="http://schemas.microsoft.com/office/drawing/2014/main" id="{CFA5A393-AB0E-2813-D07A-0FE93D993698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SCALA ECOSYSTEM SECURITY</a:t>
            </a:r>
            <a:r>
              <a:rPr lang="en-AU"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 MODEL</a:t>
            </a:r>
            <a:endParaRPr sz="825" b="1">
              <a:solidFill>
                <a:srgbClr val="55D9D5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2765440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yebrow-2">
            <a:extLst>
              <a:ext uri="{FF2B5EF4-FFF2-40B4-BE49-F238E27FC236}">
                <a16:creationId xmlns:a16="http://schemas.microsoft.com/office/drawing/2014/main" id="{10A04446-81DE-48DE-9664-26C96278C5AB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SCALA ECOSYSTEM SECURITY MODEL</a:t>
            </a:r>
          </a:p>
        </p:txBody>
      </p:sp>
      <p:sp>
        <p:nvSpPr>
          <p:cNvPr id="2" name="page-2">
            <a:extLst>
              <a:ext uri="{FF2B5EF4-FFF2-40B4-BE49-F238E27FC236}">
                <a16:creationId xmlns:a16="http://schemas.microsoft.com/office/drawing/2014/main" id="{E118E933-832C-4AB6-A243-2D8BF345EAB2}"/>
              </a:ext>
            </a:extLst>
          </p:cNvPr>
          <p:cNvSpPr>
            <a:spLocks noGrp="1"/>
          </p:cNvSpPr>
          <p:nvPr/>
        </p:nvSpPr>
        <p:spPr>
          <a:xfrm>
            <a:off x="11353800" y="3810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title-2">
            <a:extLst>
              <a:ext uri="{FF2B5EF4-FFF2-40B4-BE49-F238E27FC236}">
                <a16:creationId xmlns:a16="http://schemas.microsoft.com/office/drawing/2014/main" id="{F28BB29B-CA9F-4640-A00E-32D599556603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Risk Pattern</a:t>
            </a:r>
          </a:p>
        </p:txBody>
      </p:sp>
      <p:sp>
        <p:nvSpPr>
          <p:cNvPr id="4" name="rule-2">
            <a:extLst>
              <a:ext uri="{FF2B5EF4-FFF2-40B4-BE49-F238E27FC236}">
                <a16:creationId xmlns:a16="http://schemas.microsoft.com/office/drawing/2014/main" id="{BACD8586-5122-4799-9447-FB67F86EF7D6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0896600" cy="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B7B93-FAD6-4B39-B6F5-109F3AC204AC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550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HIGH VALUE</a:t>
            </a:r>
          </a:p>
        </p:txBody>
      </p:sp>
      <p:sp>
        <p:nvSpPr>
          <p:cNvPr id="6" name="high-value-node">
            <a:extLst>
              <a:ext uri="{FF2B5EF4-FFF2-40B4-BE49-F238E27FC236}">
                <a16:creationId xmlns:a16="http://schemas.microsoft.com/office/drawing/2014/main" id="{DF100A6D-A7C5-4B7B-B7CD-41A52311E85C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3143250" cy="1952625"/>
          </a:xfrm>
          <a:prstGeom prst="roundRect">
            <a:avLst>
              <a:gd name="adj" fmla="val 11707"/>
            </a:avLst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AC56CE-99B2-40D1-A71D-6BEF2D66C60A}"/>
              </a:ext>
            </a:extLst>
          </p:cNvPr>
          <p:cNvSpPr>
            <a:spLocks noGrp="1"/>
          </p:cNvSpPr>
          <p:nvPr/>
        </p:nvSpPr>
        <p:spPr>
          <a:xfrm>
            <a:off x="1238250" y="2819400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SOFTWARE COMPONENT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BFDA67-C17C-42D3-8B7E-101A1ECA8BD8}"/>
              </a:ext>
            </a:extLst>
          </p:cNvPr>
          <p:cNvSpPr>
            <a:spLocks noGrp="1"/>
          </p:cNvSpPr>
          <p:nvPr/>
        </p:nvSpPr>
        <p:spPr>
          <a:xfrm>
            <a:off x="1162050" y="36385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VALUE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546AFF-2561-4B0F-9701-F81D817DC6D4}"/>
              </a:ext>
            </a:extLst>
          </p:cNvPr>
          <p:cNvSpPr>
            <a:spLocks noGrp="1"/>
          </p:cNvSpPr>
          <p:nvPr/>
        </p:nvSpPr>
        <p:spPr>
          <a:xfrm>
            <a:off x="2076450" y="3695700"/>
            <a:ext cx="1485900" cy="95250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FF24F70-7DDA-4264-848E-D069C782AA37}"/>
              </a:ext>
            </a:extLst>
          </p:cNvPr>
          <p:cNvSpPr>
            <a:spLocks noGrp="1"/>
          </p:cNvSpPr>
          <p:nvPr/>
        </p:nvSpPr>
        <p:spPr>
          <a:xfrm>
            <a:off x="2076450" y="3695700"/>
            <a:ext cx="1352169" cy="95250"/>
          </a:xfrm>
          <a:prstGeom prst="roundRect">
            <a:avLst>
              <a:gd name="adj" fmla="val 50000"/>
            </a:avLst>
          </a:prstGeom>
          <a:solidFill>
            <a:srgbClr val="55D9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3EC34C-A39E-45DF-8484-6FB44787C27F}"/>
              </a:ext>
            </a:extLst>
          </p:cNvPr>
          <p:cNvSpPr>
            <a:spLocks noGrp="1"/>
          </p:cNvSpPr>
          <p:nvPr/>
        </p:nvSpPr>
        <p:spPr>
          <a:xfrm>
            <a:off x="3638550" y="3638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00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0.91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370A00-6864-4230-8ECA-3D6A8D8D2DCC}"/>
              </a:ext>
            </a:extLst>
          </p:cNvPr>
          <p:cNvSpPr>
            <a:spLocks noGrp="1"/>
          </p:cNvSpPr>
          <p:nvPr/>
        </p:nvSpPr>
        <p:spPr>
          <a:xfrm>
            <a:off x="4762500" y="28384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DEPENDS ON</a:t>
            </a:r>
          </a:p>
        </p:txBody>
      </p:sp>
      <p:sp>
        <p:nvSpPr>
          <p:cNvPr id="21" name="depends-arrow">
            <a:extLst>
              <a:ext uri="{FF2B5EF4-FFF2-40B4-BE49-F238E27FC236}">
                <a16:creationId xmlns:a16="http://schemas.microsoft.com/office/drawing/2014/main" id="{1725F8FE-9FD0-4572-A7A1-A7C2EDA60DD1}"/>
              </a:ext>
            </a:extLst>
          </p:cNvPr>
          <p:cNvSpPr>
            <a:spLocks noGrp="1"/>
          </p:cNvSpPr>
          <p:nvPr/>
        </p:nvSpPr>
        <p:spPr>
          <a:xfrm>
            <a:off x="4695825" y="3333750"/>
            <a:ext cx="2495550" cy="552450"/>
          </a:xfrm>
          <a:prstGeom prst="rightArrow">
            <a:avLst/>
          </a:prstGeom>
          <a:solidFill>
            <a:srgbClr val="FF7C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A91AC1-9ABA-480D-B933-0A76D47C15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525" cy="95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25000" lnSpcReduction="20000"/>
          </a:bodyPr>
          <a:lstStyle/>
          <a:p>
            <a:endParaRPr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AB975D-601B-4EF6-BD3B-4B70ACCB11D4}"/>
              </a:ext>
            </a:extLst>
          </p:cNvPr>
          <p:cNvSpPr>
            <a:spLocks noGrp="1"/>
          </p:cNvSpPr>
          <p:nvPr/>
        </p:nvSpPr>
        <p:spPr>
          <a:xfrm>
            <a:off x="7791450" y="1790700"/>
            <a:ext cx="34861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75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LOW MAINTENANCE</a:t>
            </a:r>
          </a:p>
          <a:p>
            <a:pPr algn="ctr">
              <a:buNone/>
              <a:defRPr sz="1875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OR SECURITY</a:t>
            </a:r>
          </a:p>
        </p:txBody>
      </p:sp>
      <p:sp>
        <p:nvSpPr>
          <p:cNvPr id="24" name="low-health-node">
            <a:extLst>
              <a:ext uri="{FF2B5EF4-FFF2-40B4-BE49-F238E27FC236}">
                <a16:creationId xmlns:a16="http://schemas.microsoft.com/office/drawing/2014/main" id="{E5920FA9-CF30-4D8C-A5D1-D114E7E680E0}"/>
              </a:ext>
            </a:extLst>
          </p:cNvPr>
          <p:cNvSpPr>
            <a:spLocks noGrp="1"/>
          </p:cNvSpPr>
          <p:nvPr/>
        </p:nvSpPr>
        <p:spPr>
          <a:xfrm>
            <a:off x="7962900" y="2609850"/>
            <a:ext cx="3143250" cy="1952625"/>
          </a:xfrm>
          <a:prstGeom prst="roundRect">
            <a:avLst>
              <a:gd name="adj" fmla="val 11707"/>
            </a:avLst>
          </a:prstGeom>
          <a:solidFill>
            <a:srgbClr val="122338"/>
          </a:solidFill>
          <a:ln w="19050">
            <a:solidFill>
              <a:srgbClr val="FF7C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1D9879-4646-44EA-B1F9-27E49182F865}"/>
              </a:ext>
            </a:extLst>
          </p:cNvPr>
          <p:cNvSpPr>
            <a:spLocks noGrp="1"/>
          </p:cNvSpPr>
          <p:nvPr/>
        </p:nvSpPr>
        <p:spPr>
          <a:xfrm>
            <a:off x="8305800" y="2819400"/>
            <a:ext cx="2457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DEPENDENCY COMPONENT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655785-E716-4004-8A1E-534CB7F5A7DC}"/>
              </a:ext>
            </a:extLst>
          </p:cNvPr>
          <p:cNvSpPr>
            <a:spLocks noGrp="1"/>
          </p:cNvSpPr>
          <p:nvPr/>
        </p:nvSpPr>
        <p:spPr>
          <a:xfrm>
            <a:off x="8229600" y="342900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MAINT.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D712074-A5DB-4876-AE91-0B0393A0388C}"/>
              </a:ext>
            </a:extLst>
          </p:cNvPr>
          <p:cNvSpPr>
            <a:spLocks noGrp="1"/>
          </p:cNvSpPr>
          <p:nvPr/>
        </p:nvSpPr>
        <p:spPr>
          <a:xfrm>
            <a:off x="9144000" y="3476625"/>
            <a:ext cx="1485900" cy="95250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C9350E9-3047-4DD2-99E5-1686ABFB6E87}"/>
              </a:ext>
            </a:extLst>
          </p:cNvPr>
          <p:cNvSpPr>
            <a:spLocks noGrp="1"/>
          </p:cNvSpPr>
          <p:nvPr/>
        </p:nvSpPr>
        <p:spPr>
          <a:xfrm>
            <a:off x="9144000" y="3476625"/>
            <a:ext cx="267462" cy="95250"/>
          </a:xfrm>
          <a:prstGeom prst="roundRect">
            <a:avLst>
              <a:gd name="adj" fmla="val 50000"/>
            </a:avLst>
          </a:prstGeom>
          <a:solidFill>
            <a:srgbClr val="FF7C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7BC0E0B-4942-4079-BA0D-E6F4F4C973D2}"/>
              </a:ext>
            </a:extLst>
          </p:cNvPr>
          <p:cNvSpPr>
            <a:spLocks noGrp="1"/>
          </p:cNvSpPr>
          <p:nvPr/>
        </p:nvSpPr>
        <p:spPr>
          <a:xfrm>
            <a:off x="10706100" y="34290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00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0.18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C1717DD-8035-41CF-B692-D54BFD0BA9A2}"/>
              </a:ext>
            </a:extLst>
          </p:cNvPr>
          <p:cNvSpPr>
            <a:spLocks noGrp="1"/>
          </p:cNvSpPr>
          <p:nvPr/>
        </p:nvSpPr>
        <p:spPr>
          <a:xfrm>
            <a:off x="8229600" y="3943350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SECURITY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943AADFA-4901-478B-BBAB-C60598DFA9BD}"/>
              </a:ext>
            </a:extLst>
          </p:cNvPr>
          <p:cNvSpPr>
            <a:spLocks noGrp="1"/>
          </p:cNvSpPr>
          <p:nvPr/>
        </p:nvSpPr>
        <p:spPr>
          <a:xfrm>
            <a:off x="9144000" y="3990975"/>
            <a:ext cx="1485900" cy="95250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F0F65BD5-F83A-478F-BD20-A1E17FE700AF}"/>
              </a:ext>
            </a:extLst>
          </p:cNvPr>
          <p:cNvSpPr>
            <a:spLocks noGrp="1"/>
          </p:cNvSpPr>
          <p:nvPr/>
        </p:nvSpPr>
        <p:spPr>
          <a:xfrm>
            <a:off x="9144000" y="3990975"/>
            <a:ext cx="386334" cy="95250"/>
          </a:xfrm>
          <a:prstGeom prst="roundRect">
            <a:avLst>
              <a:gd name="adj" fmla="val 50000"/>
            </a:avLst>
          </a:prstGeom>
          <a:solidFill>
            <a:srgbClr val="FF7C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91BEF2-222E-4AF0-BEBA-5720F4CB1C3A}"/>
              </a:ext>
            </a:extLst>
          </p:cNvPr>
          <p:cNvSpPr>
            <a:spLocks noGrp="1"/>
          </p:cNvSpPr>
          <p:nvPr/>
        </p:nvSpPr>
        <p:spPr>
          <a:xfrm>
            <a:off x="10706100" y="39433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900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0.26</a:t>
            </a:r>
          </a:p>
        </p:txBody>
      </p:sp>
    </p:spTree>
    <p:extLst>
      <p:ext uri="{BB962C8B-B14F-4D97-AF65-F5344CB8AC3E}">
        <p14:creationId xmlns:p14="http://schemas.microsoft.com/office/powerpoint/2010/main" val="178405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yebrow-4">
            <a:extLst>
              <a:ext uri="{FF2B5EF4-FFF2-40B4-BE49-F238E27FC236}">
                <a16:creationId xmlns:a16="http://schemas.microsoft.com/office/drawing/2014/main" id="{1A4548E2-7736-407C-AB14-EA33DAD7F0B7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SCALA ECOSYSTEM SECURITY MODEL</a:t>
            </a:r>
          </a:p>
        </p:txBody>
      </p:sp>
      <p:sp>
        <p:nvSpPr>
          <p:cNvPr id="2" name="page-4">
            <a:extLst>
              <a:ext uri="{FF2B5EF4-FFF2-40B4-BE49-F238E27FC236}">
                <a16:creationId xmlns:a16="http://schemas.microsoft.com/office/drawing/2014/main" id="{64124FD6-3834-4288-AFF1-F62111D784DC}"/>
              </a:ext>
            </a:extLst>
          </p:cNvPr>
          <p:cNvSpPr>
            <a:spLocks noGrp="1"/>
          </p:cNvSpPr>
          <p:nvPr/>
        </p:nvSpPr>
        <p:spPr>
          <a:xfrm>
            <a:off x="11353800" y="3810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title-4">
            <a:extLst>
              <a:ext uri="{FF2B5EF4-FFF2-40B4-BE49-F238E27FC236}">
                <a16:creationId xmlns:a16="http://schemas.microsoft.com/office/drawing/2014/main" id="{0D608266-1396-4211-8115-AFF2BEA07FDB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Model Output</a:t>
            </a:r>
          </a:p>
        </p:txBody>
      </p:sp>
      <p:sp>
        <p:nvSpPr>
          <p:cNvPr id="4" name="rule-4">
            <a:extLst>
              <a:ext uri="{FF2B5EF4-FFF2-40B4-BE49-F238E27FC236}">
                <a16:creationId xmlns:a16="http://schemas.microsoft.com/office/drawing/2014/main" id="{6ADF84ED-7166-4D36-934C-3A2105A64B43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0896600" cy="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65192F-66FD-41E8-AB46-F4C15F578765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7586336" cy="1904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Weak components</a:t>
            </a:r>
            <a:r>
              <a:rPr lang="en-AU" sz="12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 (low M/S)</a:t>
            </a:r>
            <a:r>
              <a:rPr sz="12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 ranked by downstream value exposed</a:t>
            </a:r>
            <a:r>
              <a:rPr lang="en-AU" sz="12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 (sum of dependants’ V)</a:t>
            </a:r>
            <a:endParaRPr sz="1200" b="1">
              <a:solidFill>
                <a:srgbClr val="AAB4C2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857EAE34-BDDD-4528-ADC0-A9AFB96A9BFC}"/>
              </a:ext>
            </a:extLst>
          </p:cNvPr>
          <p:cNvSpPr>
            <a:spLocks noGrp="1"/>
          </p:cNvSpPr>
          <p:nvPr/>
        </p:nvSpPr>
        <p:spPr>
          <a:xfrm>
            <a:off x="4191000" y="2752725"/>
            <a:ext cx="4953000" cy="0"/>
          </a:xfrm>
          <a:prstGeom prst="line">
            <a:avLst/>
          </a:prstGeom>
          <a:noFill/>
          <a:ln w="133350">
            <a:solidFill>
              <a:srgbClr val="FF7C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0BC5D53-43C6-41D4-95BD-0884DB32F7C7}"/>
              </a:ext>
            </a:extLst>
          </p:cNvPr>
          <p:cNvSpPr>
            <a:spLocks noGrp="1"/>
          </p:cNvSpPr>
          <p:nvPr/>
        </p:nvSpPr>
        <p:spPr>
          <a:xfrm flipV="1">
            <a:off x="4191000" y="3848100"/>
            <a:ext cx="3714750" cy="0"/>
          </a:xfrm>
          <a:prstGeom prst="line">
            <a:avLst/>
          </a:prstGeom>
          <a:noFill/>
          <a:ln w="13335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2ED9AA9-3CAF-4085-9F4A-526D005E9286}"/>
              </a:ext>
            </a:extLst>
          </p:cNvPr>
          <p:cNvSpPr>
            <a:spLocks noGrp="1"/>
          </p:cNvSpPr>
          <p:nvPr/>
        </p:nvSpPr>
        <p:spPr>
          <a:xfrm flipV="1">
            <a:off x="4191000" y="4943475"/>
            <a:ext cx="2571750" cy="0"/>
          </a:xfrm>
          <a:prstGeom prst="line">
            <a:avLst/>
          </a:prstGeom>
          <a:noFill/>
          <a:ln w="133350">
            <a:solidFill>
              <a:srgbClr val="55D9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D39078F-44C5-47CA-82ED-E317F9E05C38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2857500" cy="742950"/>
          </a:xfrm>
          <a:prstGeom prst="roundRect">
            <a:avLst>
              <a:gd name="adj" fmla="val 22857"/>
            </a:avLst>
          </a:prstGeom>
          <a:solidFill>
            <a:srgbClr val="122338"/>
          </a:solidFill>
          <a:ln w="19050">
            <a:solidFill>
              <a:srgbClr val="FF7C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07C0F5-DC64-43AD-A164-907564F45B3B}"/>
              </a:ext>
            </a:extLst>
          </p:cNvPr>
          <p:cNvSpPr>
            <a:spLocks noGrp="1"/>
          </p:cNvSpPr>
          <p:nvPr/>
        </p:nvSpPr>
        <p:spPr>
          <a:xfrm>
            <a:off x="1162050" y="247650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01  COMPONENT 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325D41-AEE4-4BE8-8704-3EE831BCF53D}"/>
              </a:ext>
            </a:extLst>
          </p:cNvPr>
          <p:cNvSpPr>
            <a:spLocks noGrp="1"/>
          </p:cNvSpPr>
          <p:nvPr/>
        </p:nvSpPr>
        <p:spPr>
          <a:xfrm>
            <a:off x="1162050" y="2781300"/>
            <a:ext cx="243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Low M/S · largest downstream value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14DBF6C-998E-471C-8B73-86FE4AC5F03C}"/>
              </a:ext>
            </a:extLst>
          </p:cNvPr>
          <p:cNvSpPr>
            <a:spLocks noGrp="1"/>
          </p:cNvSpPr>
          <p:nvPr/>
        </p:nvSpPr>
        <p:spPr>
          <a:xfrm>
            <a:off x="952500" y="3476625"/>
            <a:ext cx="2857500" cy="742950"/>
          </a:xfrm>
          <a:prstGeom prst="roundRect">
            <a:avLst>
              <a:gd name="adj" fmla="val 22857"/>
            </a:avLst>
          </a:prstGeom>
          <a:solidFill>
            <a:srgbClr val="1223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56B1F4-61A7-4D84-AE87-AFB9BCDE212B}"/>
              </a:ext>
            </a:extLst>
          </p:cNvPr>
          <p:cNvSpPr>
            <a:spLocks noGrp="1"/>
          </p:cNvSpPr>
          <p:nvPr/>
        </p:nvSpPr>
        <p:spPr>
          <a:xfrm>
            <a:off x="1162050" y="3571875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02  COMPONENT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EB40D5-D2D1-405B-BA1A-B82624788395}"/>
              </a:ext>
            </a:extLst>
          </p:cNvPr>
          <p:cNvSpPr>
            <a:spLocks noGrp="1"/>
          </p:cNvSpPr>
          <p:nvPr/>
        </p:nvSpPr>
        <p:spPr>
          <a:xfrm>
            <a:off x="1162050" y="3876675"/>
            <a:ext cx="243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Low M/S · high downstream value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F351131-BBDD-4948-9761-4DEA9EBFD116}"/>
              </a:ext>
            </a:extLst>
          </p:cNvPr>
          <p:cNvSpPr>
            <a:spLocks noGrp="1"/>
          </p:cNvSpPr>
          <p:nvPr/>
        </p:nvSpPr>
        <p:spPr>
          <a:xfrm>
            <a:off x="952500" y="4572000"/>
            <a:ext cx="2857500" cy="742950"/>
          </a:xfrm>
          <a:prstGeom prst="roundRect">
            <a:avLst>
              <a:gd name="adj" fmla="val 22857"/>
            </a:avLst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74C037-A27D-496D-96F2-C645320B4E53}"/>
              </a:ext>
            </a:extLst>
          </p:cNvPr>
          <p:cNvSpPr>
            <a:spLocks noGrp="1"/>
          </p:cNvSpPr>
          <p:nvPr/>
        </p:nvSpPr>
        <p:spPr>
          <a:xfrm>
            <a:off x="1162050" y="4667250"/>
            <a:ext cx="243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1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03  COMPONENT 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70403A-A518-4F60-B57C-B0460A42954F}"/>
              </a:ext>
            </a:extLst>
          </p:cNvPr>
          <p:cNvSpPr>
            <a:spLocks noGrp="1"/>
          </p:cNvSpPr>
          <p:nvPr/>
        </p:nvSpPr>
        <p:spPr>
          <a:xfrm>
            <a:off x="1162050" y="4972050"/>
            <a:ext cx="2438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Low M/S · moderate downstream value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E8657DA-D9D4-473F-95B0-421249E5FBC0}"/>
              </a:ext>
            </a:extLst>
          </p:cNvPr>
          <p:cNvSpPr>
            <a:spLocks noGrp="1"/>
          </p:cNvSpPr>
          <p:nvPr/>
        </p:nvSpPr>
        <p:spPr>
          <a:xfrm>
            <a:off x="9620250" y="2381250"/>
            <a:ext cx="1714500" cy="2933700"/>
          </a:xfrm>
          <a:prstGeom prst="roundRect">
            <a:avLst>
              <a:gd name="adj" fmla="val 17742"/>
            </a:avLst>
          </a:prstGeom>
          <a:solidFill>
            <a:srgbClr val="122338"/>
          </a:solidFill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78358E-A1E5-47A5-B503-2AD94EEB1E18}"/>
              </a:ext>
            </a:extLst>
          </p:cNvPr>
          <p:cNvSpPr>
            <a:spLocks noGrp="1"/>
          </p:cNvSpPr>
          <p:nvPr/>
        </p:nvSpPr>
        <p:spPr>
          <a:xfrm>
            <a:off x="9810750" y="3143250"/>
            <a:ext cx="1333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RANKED</a:t>
            </a:r>
            <a:endParaRPr lang="en-AU" sz="1350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  <a:p>
            <a:pPr algn="ctr">
              <a:buNone/>
              <a:def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endParaRPr lang="en-JP" sz="1350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  <a:p>
            <a:pPr algn="ctr">
              <a:buNone/>
              <a:def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JP"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INTERVENTION</a:t>
            </a:r>
          </a:p>
          <a:p>
            <a:pPr algn="ctr">
              <a:buNone/>
              <a:def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endParaRPr lang="en-JP" sz="1350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  <a:p>
            <a:pPr algn="ctr">
              <a:buNone/>
              <a:def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JP"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CANDIDATES</a:t>
            </a:r>
            <a:endParaRPr lang="en-AU" sz="1350" b="1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47B4E6-B376-47F9-86CC-A18059A2098C}"/>
              </a:ext>
            </a:extLst>
          </p:cNvPr>
          <p:cNvSpPr>
            <a:spLocks noGrp="1"/>
          </p:cNvSpPr>
          <p:nvPr/>
        </p:nvSpPr>
        <p:spPr>
          <a:xfrm>
            <a:off x="4191000" y="5810250"/>
            <a:ext cx="590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Downstream value is calculated from the dependency graph.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C12990-514A-0E9D-7090-F99430061FF4}"/>
              </a:ext>
            </a:extLst>
          </p:cNvPr>
          <p:cNvSpPr>
            <a:spLocks noGrp="1"/>
          </p:cNvSpPr>
          <p:nvPr/>
        </p:nvSpPr>
        <p:spPr>
          <a:xfrm>
            <a:off x="4286250" y="2190745"/>
            <a:ext cx="4407074" cy="476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AU" sz="13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DOWNSTREAM VALUE SCORE SUM</a:t>
            </a:r>
          </a:p>
        </p:txBody>
      </p:sp>
    </p:spTree>
    <p:extLst>
      <p:ext uri="{BB962C8B-B14F-4D97-AF65-F5344CB8AC3E}">
        <p14:creationId xmlns:p14="http://schemas.microsoft.com/office/powerpoint/2010/main" val="54097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yebrow-5">
            <a:extLst>
              <a:ext uri="{FF2B5EF4-FFF2-40B4-BE49-F238E27FC236}">
                <a16:creationId xmlns:a16="http://schemas.microsoft.com/office/drawing/2014/main" id="{9F42EC85-1579-420D-9B7C-9FEEC15D6E5A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SCALA ECOSYSTEM SECURITY MODEL</a:t>
            </a:r>
          </a:p>
        </p:txBody>
      </p:sp>
      <p:sp>
        <p:nvSpPr>
          <p:cNvPr id="2" name="page-5">
            <a:extLst>
              <a:ext uri="{FF2B5EF4-FFF2-40B4-BE49-F238E27FC236}">
                <a16:creationId xmlns:a16="http://schemas.microsoft.com/office/drawing/2014/main" id="{F5673983-71C6-4B6A-A6A6-56E947DF411E}"/>
              </a:ext>
            </a:extLst>
          </p:cNvPr>
          <p:cNvSpPr>
            <a:spLocks noGrp="1"/>
          </p:cNvSpPr>
          <p:nvPr/>
        </p:nvSpPr>
        <p:spPr>
          <a:xfrm>
            <a:off x="11353800" y="3810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title-5">
            <a:extLst>
              <a:ext uri="{FF2B5EF4-FFF2-40B4-BE49-F238E27FC236}">
                <a16:creationId xmlns:a16="http://schemas.microsoft.com/office/drawing/2014/main" id="{FB90E21C-E4F0-4B03-962F-D4B9E2966E21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Scoring Model</a:t>
            </a:r>
          </a:p>
        </p:txBody>
      </p:sp>
      <p:sp>
        <p:nvSpPr>
          <p:cNvPr id="4" name="rule-5">
            <a:extLst>
              <a:ext uri="{FF2B5EF4-FFF2-40B4-BE49-F238E27FC236}">
                <a16:creationId xmlns:a16="http://schemas.microsoft.com/office/drawing/2014/main" id="{F2301DC4-C7A0-42C0-8964-B2CD63ACA147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0896600" cy="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DE6269-069F-4542-BFD0-0A4A78855E94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10572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Each dimension uses an adapted </a:t>
            </a:r>
            <a:r>
              <a:rPr sz="1200" b="0">
                <a:solidFill>
                  <a:srgbClr val="AAB4C2"/>
                </a:solidFill>
                <a:latin typeface="Avenir Next"/>
                <a:ea typeface="Avenir Next"/>
                <a:cs typeface="Avenir Next"/>
                <a:hlinkClick r:id="rId3"/>
              </a:rPr>
              <a:t>OpenSSF Criticality Score</a:t>
            </a:r>
            <a:r>
              <a:rPr sz="120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 mechanism with its own inputs, weights and thresholds.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3DBD47-2BB8-4287-B73E-7564F28DB32D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VALUE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B264ACE-4738-40EC-A884-A797912B376D}"/>
              </a:ext>
            </a:extLst>
          </p:cNvPr>
          <p:cNvSpPr>
            <a:spLocks noGrp="1"/>
          </p:cNvSpPr>
          <p:nvPr/>
        </p:nvSpPr>
        <p:spPr>
          <a:xfrm>
            <a:off x="781050" y="2676525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6A1195-E99F-4137-A536-D863C6DBEC72}"/>
              </a:ext>
            </a:extLst>
          </p:cNvPr>
          <p:cNvSpPr>
            <a:spLocks noGrp="1"/>
          </p:cNvSpPr>
          <p:nvPr/>
        </p:nvSpPr>
        <p:spPr>
          <a:xfrm>
            <a:off x="781050" y="26765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↳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5490C8-BCDB-4497-B947-1ACBF60701AD}"/>
              </a:ext>
            </a:extLst>
          </p:cNvPr>
          <p:cNvSpPr>
            <a:spLocks noGrp="1"/>
          </p:cNvSpPr>
          <p:nvPr/>
        </p:nvSpPr>
        <p:spPr>
          <a:xfrm>
            <a:off x="1200150" y="26479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Dependents + transitive dependents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28FEC14-A833-41EC-9888-CA0D504E0A22}"/>
              </a:ext>
            </a:extLst>
          </p:cNvPr>
          <p:cNvSpPr>
            <a:spLocks noGrp="1"/>
          </p:cNvSpPr>
          <p:nvPr/>
        </p:nvSpPr>
        <p:spPr>
          <a:xfrm>
            <a:off x="3162300" y="2819400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4C8493-4F2E-440B-99FE-EF5AA04150FB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32A4C9-E9DF-449B-AC18-D895AF12E483}"/>
              </a:ext>
            </a:extLst>
          </p:cNvPr>
          <p:cNvSpPr>
            <a:spLocks noGrp="1"/>
          </p:cNvSpPr>
          <p:nvPr/>
        </p:nvSpPr>
        <p:spPr>
          <a:xfrm>
            <a:off x="781050" y="33337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928B41-BE23-497C-B1D2-09FC32C1C622}"/>
              </a:ext>
            </a:extLst>
          </p:cNvPr>
          <p:cNvSpPr>
            <a:spLocks noGrp="1"/>
          </p:cNvSpPr>
          <p:nvPr/>
        </p:nvSpPr>
        <p:spPr>
          <a:xfrm>
            <a:off x="1200150" y="330517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Stars · forks · downloads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35D1DE7-CFC3-4EA2-88BB-432DF62AFFC5}"/>
              </a:ext>
            </a:extLst>
          </p:cNvPr>
          <p:cNvSpPr>
            <a:spLocks noGrp="1"/>
          </p:cNvSpPr>
          <p:nvPr/>
        </p:nvSpPr>
        <p:spPr>
          <a:xfrm>
            <a:off x="3162300" y="3476625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51A8A-3DA9-41BF-98BB-A39D7F1C6077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55D9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4A5722-7EEB-49D2-B825-CBA5B3EF2977}"/>
              </a:ext>
            </a:extLst>
          </p:cNvPr>
          <p:cNvSpPr>
            <a:spLocks noGrp="1"/>
          </p:cNvSpPr>
          <p:nvPr/>
        </p:nvSpPr>
        <p:spPr>
          <a:xfrm>
            <a:off x="781050" y="3990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0C5C48-1FCB-462A-A390-0C16846CB4CE}"/>
              </a:ext>
            </a:extLst>
          </p:cNvPr>
          <p:cNvSpPr>
            <a:spLocks noGrp="1"/>
          </p:cNvSpPr>
          <p:nvPr/>
        </p:nvSpPr>
        <p:spPr>
          <a:xfrm>
            <a:off x="1200150" y="39624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Known company usage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1C40B1D1-FB4F-4EB2-8068-6B6290108B86}"/>
              </a:ext>
            </a:extLst>
          </p:cNvPr>
          <p:cNvSpPr>
            <a:spLocks noGrp="1"/>
          </p:cNvSpPr>
          <p:nvPr/>
        </p:nvSpPr>
        <p:spPr>
          <a:xfrm>
            <a:off x="3162300" y="4133850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8B828B6-39A7-40ED-898C-DB2AC8DF7152}"/>
              </a:ext>
            </a:extLst>
          </p:cNvPr>
          <p:cNvSpPr>
            <a:spLocks noGrp="1"/>
          </p:cNvSpPr>
          <p:nvPr/>
        </p:nvSpPr>
        <p:spPr>
          <a:xfrm>
            <a:off x="3486150" y="2647950"/>
            <a:ext cx="323850" cy="1809750"/>
          </a:xfrm>
          <a:prstGeom prst="roundRect">
            <a:avLst>
              <a:gd name="adj" fmla="val 47059"/>
            </a:avLst>
          </a:prstGeom>
          <a:solidFill>
            <a:srgbClr val="0D1C2D"/>
          </a:solidFill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6A3C8D-A664-46C4-99F5-ED4BCAE53A9E}"/>
              </a:ext>
            </a:extLst>
          </p:cNvPr>
          <p:cNvSpPr>
            <a:spLocks noGrp="1"/>
          </p:cNvSpPr>
          <p:nvPr/>
        </p:nvSpPr>
        <p:spPr>
          <a:xfrm>
            <a:off x="3543300" y="2916555"/>
            <a:ext cx="209550" cy="1483995"/>
          </a:xfrm>
          <a:prstGeom prst="roundRect">
            <a:avLst>
              <a:gd name="adj" fmla="val 50000"/>
            </a:avLst>
          </a:prstGeom>
          <a:solidFill>
            <a:srgbClr val="55D9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C49115-8A71-48DA-A381-89E26DF524D2}"/>
              </a:ext>
            </a:extLst>
          </p:cNvPr>
          <p:cNvSpPr>
            <a:spLocks noGrp="1"/>
          </p:cNvSpPr>
          <p:nvPr/>
        </p:nvSpPr>
        <p:spPr>
          <a:xfrm>
            <a:off x="3400425" y="4191000"/>
            <a:ext cx="495300" cy="495300"/>
          </a:xfrm>
          <a:prstGeom prst="ellipse">
            <a:avLst/>
          </a:prstGeom>
          <a:solidFill>
            <a:srgbClr val="55D9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A892841-5F2D-49B4-9974-6F0A08D8DA5B}"/>
              </a:ext>
            </a:extLst>
          </p:cNvPr>
          <p:cNvSpPr>
            <a:spLocks noGrp="1"/>
          </p:cNvSpPr>
          <p:nvPr/>
        </p:nvSpPr>
        <p:spPr>
          <a:xfrm>
            <a:off x="3028950" y="47815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0–1</a:t>
            </a: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714AF8A0-29CF-44F4-98CC-A3E36F0D2683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0" cy="316230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3602D9-92ED-4B77-A4E7-07580E6D4767}"/>
              </a:ext>
            </a:extLst>
          </p:cNvPr>
          <p:cNvSpPr>
            <a:spLocks noGrp="1"/>
          </p:cNvSpPr>
          <p:nvPr/>
        </p:nvSpPr>
        <p:spPr>
          <a:xfrm>
            <a:off x="4438650" y="2095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MAINTENANCE HEALTH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B643644-1E2F-4A2A-AFFA-CA8DCF16A9D3}"/>
              </a:ext>
            </a:extLst>
          </p:cNvPr>
          <p:cNvSpPr>
            <a:spLocks noGrp="1"/>
          </p:cNvSpPr>
          <p:nvPr/>
        </p:nvSpPr>
        <p:spPr>
          <a:xfrm>
            <a:off x="4457700" y="2676525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A6D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52A170-45C8-43C7-8D43-00C936B60594}"/>
              </a:ext>
            </a:extLst>
          </p:cNvPr>
          <p:cNvSpPr>
            <a:spLocks noGrp="1"/>
          </p:cNvSpPr>
          <p:nvPr/>
        </p:nvSpPr>
        <p:spPr>
          <a:xfrm>
            <a:off x="4457700" y="26765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↳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C0B715-0B32-48CD-8EE6-130E66799857}"/>
              </a:ext>
            </a:extLst>
          </p:cNvPr>
          <p:cNvSpPr>
            <a:spLocks noGrp="1"/>
          </p:cNvSpPr>
          <p:nvPr/>
        </p:nvSpPr>
        <p:spPr>
          <a:xfrm>
            <a:off x="4876800" y="26479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Recent commits + releases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4E01514D-8828-400F-9D64-853FE3AB542F}"/>
              </a:ext>
            </a:extLst>
          </p:cNvPr>
          <p:cNvSpPr>
            <a:spLocks noGrp="1"/>
          </p:cNvSpPr>
          <p:nvPr/>
        </p:nvSpPr>
        <p:spPr>
          <a:xfrm>
            <a:off x="6838950" y="2819400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C918DC2-C7B6-45C1-9BE4-0D5061327E7B}"/>
              </a:ext>
            </a:extLst>
          </p:cNvPr>
          <p:cNvSpPr>
            <a:spLocks noGrp="1"/>
          </p:cNvSpPr>
          <p:nvPr/>
        </p:nvSpPr>
        <p:spPr>
          <a:xfrm>
            <a:off x="4457700" y="3333750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A6D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B91D24-DF38-4EE8-9DB6-C6A8CC614489}"/>
              </a:ext>
            </a:extLst>
          </p:cNvPr>
          <p:cNvSpPr>
            <a:spLocks noGrp="1"/>
          </p:cNvSpPr>
          <p:nvPr/>
        </p:nvSpPr>
        <p:spPr>
          <a:xfrm>
            <a:off x="4457700" y="33337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8218B3-8E75-4851-A5E2-A0BD4BEAD7CA}"/>
              </a:ext>
            </a:extLst>
          </p:cNvPr>
          <p:cNvSpPr>
            <a:spLocks noGrp="1"/>
          </p:cNvSpPr>
          <p:nvPr/>
        </p:nvSpPr>
        <p:spPr>
          <a:xfrm>
            <a:off x="4876800" y="330517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Contributors</a:t>
            </a:r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198AF7D8-4D81-4EA4-B476-CB39C20EFAED}"/>
              </a:ext>
            </a:extLst>
          </p:cNvPr>
          <p:cNvSpPr>
            <a:spLocks noGrp="1"/>
          </p:cNvSpPr>
          <p:nvPr/>
        </p:nvSpPr>
        <p:spPr>
          <a:xfrm>
            <a:off x="6838950" y="3476625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4D74D83-142A-4F67-9D79-8B70E96EC8C5}"/>
              </a:ext>
            </a:extLst>
          </p:cNvPr>
          <p:cNvSpPr>
            <a:spLocks noGrp="1"/>
          </p:cNvSpPr>
          <p:nvPr/>
        </p:nvSpPr>
        <p:spPr>
          <a:xfrm>
            <a:off x="4457700" y="3990975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A6DF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5D5839-8E2E-494B-B3D6-70BD200D4D9D}"/>
              </a:ext>
            </a:extLst>
          </p:cNvPr>
          <p:cNvSpPr>
            <a:spLocks noGrp="1"/>
          </p:cNvSpPr>
          <p:nvPr/>
        </p:nvSpPr>
        <p:spPr>
          <a:xfrm>
            <a:off x="4457700" y="3990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36B61C0-2E05-4D8D-B3DD-0235C869729F}"/>
              </a:ext>
            </a:extLst>
          </p:cNvPr>
          <p:cNvSpPr>
            <a:spLocks noGrp="1"/>
          </p:cNvSpPr>
          <p:nvPr/>
        </p:nvSpPr>
        <p:spPr>
          <a:xfrm>
            <a:off x="4876800" y="39624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Issue / PR responsiveness</a:t>
            </a: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E976BF73-59D3-4D80-91CE-69BCB3A12CE4}"/>
              </a:ext>
            </a:extLst>
          </p:cNvPr>
          <p:cNvSpPr>
            <a:spLocks noGrp="1"/>
          </p:cNvSpPr>
          <p:nvPr/>
        </p:nvSpPr>
        <p:spPr>
          <a:xfrm>
            <a:off x="6838950" y="4133850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8A9823CD-41E7-482B-8FE2-743CFE989F4B}"/>
              </a:ext>
            </a:extLst>
          </p:cNvPr>
          <p:cNvSpPr>
            <a:spLocks noGrp="1"/>
          </p:cNvSpPr>
          <p:nvPr/>
        </p:nvSpPr>
        <p:spPr>
          <a:xfrm>
            <a:off x="7162800" y="2647950"/>
            <a:ext cx="323850" cy="1809750"/>
          </a:xfrm>
          <a:prstGeom prst="roundRect">
            <a:avLst>
              <a:gd name="adj" fmla="val 47059"/>
            </a:avLst>
          </a:prstGeom>
          <a:solidFill>
            <a:srgbClr val="0D1C2D"/>
          </a:solidFill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CD2701F-9ECF-45A5-BB11-3B578F45FD07}"/>
              </a:ext>
            </a:extLst>
          </p:cNvPr>
          <p:cNvSpPr>
            <a:spLocks noGrp="1"/>
          </p:cNvSpPr>
          <p:nvPr/>
        </p:nvSpPr>
        <p:spPr>
          <a:xfrm>
            <a:off x="7219950" y="3387090"/>
            <a:ext cx="209550" cy="1013460"/>
          </a:xfrm>
          <a:prstGeom prst="roundRect">
            <a:avLst>
              <a:gd name="adj" fmla="val 50000"/>
            </a:avLst>
          </a:prstGeom>
          <a:solidFill>
            <a:srgbClr val="A6DF6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33E5C73-BDFD-4F46-92F0-706701B68EBB}"/>
              </a:ext>
            </a:extLst>
          </p:cNvPr>
          <p:cNvSpPr>
            <a:spLocks noGrp="1"/>
          </p:cNvSpPr>
          <p:nvPr/>
        </p:nvSpPr>
        <p:spPr>
          <a:xfrm>
            <a:off x="7077075" y="4191000"/>
            <a:ext cx="495300" cy="495300"/>
          </a:xfrm>
          <a:prstGeom prst="ellipse">
            <a:avLst/>
          </a:prstGeom>
          <a:solidFill>
            <a:srgbClr val="A6DF6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AFFCAF6-D693-4FF4-82DC-2EC47BA94D87}"/>
              </a:ext>
            </a:extLst>
          </p:cNvPr>
          <p:cNvSpPr>
            <a:spLocks noGrp="1"/>
          </p:cNvSpPr>
          <p:nvPr/>
        </p:nvSpPr>
        <p:spPr>
          <a:xfrm>
            <a:off x="6705600" y="47815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0–1</a:t>
            </a:r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1A4D3610-0870-4A55-AA4F-33270C75CB5C}"/>
              </a:ext>
            </a:extLst>
          </p:cNvPr>
          <p:cNvSpPr>
            <a:spLocks noGrp="1"/>
          </p:cNvSpPr>
          <p:nvPr/>
        </p:nvSpPr>
        <p:spPr>
          <a:xfrm>
            <a:off x="7848600" y="2095500"/>
            <a:ext cx="0" cy="316230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9C5337-BD5F-44CA-8C0D-ED631CAA1F8C}"/>
              </a:ext>
            </a:extLst>
          </p:cNvPr>
          <p:cNvSpPr>
            <a:spLocks noGrp="1"/>
          </p:cNvSpPr>
          <p:nvPr/>
        </p:nvSpPr>
        <p:spPr>
          <a:xfrm>
            <a:off x="8115300" y="2095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SECURITY HEALTH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4DA514-1FC6-42FC-9A84-D583D4795E9E}"/>
              </a:ext>
            </a:extLst>
          </p:cNvPr>
          <p:cNvSpPr>
            <a:spLocks noGrp="1"/>
          </p:cNvSpPr>
          <p:nvPr/>
        </p:nvSpPr>
        <p:spPr>
          <a:xfrm>
            <a:off x="8134350" y="2676525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BD77424-F903-424E-8304-62DD37814669}"/>
              </a:ext>
            </a:extLst>
          </p:cNvPr>
          <p:cNvSpPr>
            <a:spLocks noGrp="1"/>
          </p:cNvSpPr>
          <p:nvPr/>
        </p:nvSpPr>
        <p:spPr>
          <a:xfrm>
            <a:off x="8134350" y="267652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↳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3D349B0-7F7E-4414-978C-21BE07E4CFBF}"/>
              </a:ext>
            </a:extLst>
          </p:cNvPr>
          <p:cNvSpPr>
            <a:spLocks noGrp="1"/>
          </p:cNvSpPr>
          <p:nvPr/>
        </p:nvSpPr>
        <p:spPr>
          <a:xfrm>
            <a:off x="8553450" y="264795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OpenSSF Scorecard</a:t>
            </a:r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C9172B0E-393B-43C1-94C7-79BCD800CCEC}"/>
              </a:ext>
            </a:extLst>
          </p:cNvPr>
          <p:cNvSpPr>
            <a:spLocks noGrp="1"/>
          </p:cNvSpPr>
          <p:nvPr/>
        </p:nvSpPr>
        <p:spPr>
          <a:xfrm>
            <a:off x="10515600" y="2819400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B1E1941-AA1E-4013-99D0-3E1A99DDE1FC}"/>
              </a:ext>
            </a:extLst>
          </p:cNvPr>
          <p:cNvSpPr>
            <a:spLocks noGrp="1"/>
          </p:cNvSpPr>
          <p:nvPr/>
        </p:nvSpPr>
        <p:spPr>
          <a:xfrm>
            <a:off x="8134350" y="3333750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8A7289-C555-4D67-98C3-C41E7C8AAFD2}"/>
              </a:ext>
            </a:extLst>
          </p:cNvPr>
          <p:cNvSpPr>
            <a:spLocks noGrp="1"/>
          </p:cNvSpPr>
          <p:nvPr/>
        </p:nvSpPr>
        <p:spPr>
          <a:xfrm>
            <a:off x="8134350" y="33337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+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F0FF59A-FB10-4019-914E-5451B7AABA1C}"/>
              </a:ext>
            </a:extLst>
          </p:cNvPr>
          <p:cNvSpPr>
            <a:spLocks noGrp="1"/>
          </p:cNvSpPr>
          <p:nvPr/>
        </p:nvSpPr>
        <p:spPr>
          <a:xfrm>
            <a:off x="8553450" y="3305175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SECURITY.md</a:t>
            </a:r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87203BC6-C394-41CD-A491-6CCDC8B4DC38}"/>
              </a:ext>
            </a:extLst>
          </p:cNvPr>
          <p:cNvSpPr>
            <a:spLocks noGrp="1"/>
          </p:cNvSpPr>
          <p:nvPr/>
        </p:nvSpPr>
        <p:spPr>
          <a:xfrm>
            <a:off x="10515600" y="3476625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271CF0C-5193-4EE0-8ACB-1319FC643EF4}"/>
              </a:ext>
            </a:extLst>
          </p:cNvPr>
          <p:cNvSpPr>
            <a:spLocks noGrp="1"/>
          </p:cNvSpPr>
          <p:nvPr/>
        </p:nvSpPr>
        <p:spPr>
          <a:xfrm>
            <a:off x="8134350" y="3990975"/>
            <a:ext cx="285750" cy="285750"/>
          </a:xfrm>
          <a:prstGeom prst="ellipse">
            <a:avLst/>
          </a:prstGeom>
          <a:solidFill>
            <a:srgbClr val="122338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9F946A1-3468-4190-B730-5CCDD81B99DA}"/>
              </a:ext>
            </a:extLst>
          </p:cNvPr>
          <p:cNvSpPr>
            <a:spLocks noGrp="1"/>
          </p:cNvSpPr>
          <p:nvPr/>
        </p:nvSpPr>
        <p:spPr>
          <a:xfrm>
            <a:off x="8134350" y="3990975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•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C3943BC-DCE7-4C45-A8F4-EB12867C3F6F}"/>
              </a:ext>
            </a:extLst>
          </p:cNvPr>
          <p:cNvSpPr>
            <a:spLocks noGrp="1"/>
          </p:cNvSpPr>
          <p:nvPr/>
        </p:nvSpPr>
        <p:spPr>
          <a:xfrm>
            <a:off x="8553450" y="3962400"/>
            <a:ext cx="2000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Audits</a:t>
            </a:r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D7B32EEC-1FA0-4B64-8BC8-81426B0CB27F}"/>
              </a:ext>
            </a:extLst>
          </p:cNvPr>
          <p:cNvSpPr>
            <a:spLocks noGrp="1"/>
          </p:cNvSpPr>
          <p:nvPr/>
        </p:nvSpPr>
        <p:spPr>
          <a:xfrm>
            <a:off x="10515600" y="4133850"/>
            <a:ext cx="361950" cy="0"/>
          </a:xfrm>
          <a:prstGeom prst="line">
            <a:avLst/>
          </a:prstGeom>
          <a:noFill/>
          <a:ln w="1905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9402B78-A5F0-42C1-B262-74DF6A158740}"/>
              </a:ext>
            </a:extLst>
          </p:cNvPr>
          <p:cNvSpPr>
            <a:spLocks noGrp="1"/>
          </p:cNvSpPr>
          <p:nvPr/>
        </p:nvSpPr>
        <p:spPr>
          <a:xfrm>
            <a:off x="10839450" y="2647950"/>
            <a:ext cx="323850" cy="1809750"/>
          </a:xfrm>
          <a:prstGeom prst="roundRect">
            <a:avLst>
              <a:gd name="adj" fmla="val 47059"/>
            </a:avLst>
          </a:prstGeom>
          <a:solidFill>
            <a:srgbClr val="0D1C2D"/>
          </a:solidFill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2D12A375-5E8A-46F6-A024-EC4EEBFE0DA0}"/>
              </a:ext>
            </a:extLst>
          </p:cNvPr>
          <p:cNvSpPr>
            <a:spLocks noGrp="1"/>
          </p:cNvSpPr>
          <p:nvPr/>
        </p:nvSpPr>
        <p:spPr>
          <a:xfrm>
            <a:off x="10896600" y="3622358"/>
            <a:ext cx="209550" cy="778193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B98F730-89F1-43BC-AD0A-483058A0F61B}"/>
              </a:ext>
            </a:extLst>
          </p:cNvPr>
          <p:cNvSpPr>
            <a:spLocks noGrp="1"/>
          </p:cNvSpPr>
          <p:nvPr/>
        </p:nvSpPr>
        <p:spPr>
          <a:xfrm>
            <a:off x="10753725" y="4191000"/>
            <a:ext cx="495300" cy="49530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655C85-EFEC-404E-8A1E-DF8D5A4C4AF9}"/>
              </a:ext>
            </a:extLst>
          </p:cNvPr>
          <p:cNvSpPr>
            <a:spLocks noGrp="1"/>
          </p:cNvSpPr>
          <p:nvPr/>
        </p:nvSpPr>
        <p:spPr>
          <a:xfrm>
            <a:off x="10382250" y="4781550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0–1</a:t>
            </a:r>
          </a:p>
        </p:txBody>
      </p:sp>
      <p:sp>
        <p:nvSpPr>
          <p:cNvPr id="63" name="source-divider">
            <a:extLst>
              <a:ext uri="{FF2B5EF4-FFF2-40B4-BE49-F238E27FC236}">
                <a16:creationId xmlns:a16="http://schemas.microsoft.com/office/drawing/2014/main" id="{DA49DF25-EE57-400B-8D6C-F5FCBC421431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10668000" cy="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 lang="en-JP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E31E088-A69A-47D4-84C6-D23935348766}"/>
              </a:ext>
            </a:extLst>
          </p:cNvPr>
          <p:cNvSpPr>
            <a:spLocks noGrp="1"/>
          </p:cNvSpPr>
          <p:nvPr/>
        </p:nvSpPr>
        <p:spPr>
          <a:xfrm>
            <a:off x="781050" y="52387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75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11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SCORING </a:t>
            </a:r>
            <a:r>
              <a:rPr lang="en-AU" sz="11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FORMULA</a:t>
            </a:r>
            <a:endParaRPr sz="1100" b="1">
              <a:solidFill>
                <a:srgbClr val="AAB4C2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B3949F0E-8FB7-4F2B-B035-568110CEA773}"/>
              </a:ext>
            </a:extLst>
          </p:cNvPr>
          <p:cNvSpPr>
            <a:spLocks noGrp="1"/>
          </p:cNvSpPr>
          <p:nvPr/>
        </p:nvSpPr>
        <p:spPr>
          <a:xfrm>
            <a:off x="2238374" y="5238750"/>
            <a:ext cx="758610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>
              <a:defRPr sz="90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00" b="0">
                <a:solidFill>
                  <a:srgbClr val="F3F0E8"/>
                </a:solidFill>
                <a:latin typeface="Avenir Next"/>
                <a:ea typeface="Avenir Next"/>
                <a:cs typeface="Avenir Next"/>
                <a:hlinkClick r:id="rId3"/>
              </a:rPr>
              <a:t>OpenSSF Criticality Scor</a:t>
            </a:r>
            <a:r>
              <a:rPr lang="en-US" sz="1100" b="0">
                <a:solidFill>
                  <a:srgbClr val="F3F0E8"/>
                </a:solidFill>
                <a:latin typeface="Avenir Next"/>
                <a:ea typeface="Avenir Next"/>
                <a:cs typeface="Avenir Next"/>
                <a:hlinkClick r:id="rId3"/>
              </a:rPr>
              <a:t>e</a:t>
            </a:r>
            <a:r>
              <a:rPr lang="en-US" sz="1100" b="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, with custom weights and inputs relevant to the particular dimension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ABC7A77-1F06-41DA-B24D-3DCD13D11E33}"/>
              </a:ext>
            </a:extLst>
          </p:cNvPr>
          <p:cNvSpPr>
            <a:spLocks noGrp="1"/>
          </p:cNvSpPr>
          <p:nvPr/>
        </p:nvSpPr>
        <p:spPr>
          <a:xfrm>
            <a:off x="781050" y="5572124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75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11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SECURITY INPUT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20E1561-3786-40DE-8AA4-8F7F786D445C}"/>
              </a:ext>
            </a:extLst>
          </p:cNvPr>
          <p:cNvSpPr>
            <a:spLocks noGrp="1"/>
          </p:cNvSpPr>
          <p:nvPr/>
        </p:nvSpPr>
        <p:spPr>
          <a:xfrm>
            <a:off x="2238375" y="5534024"/>
            <a:ext cx="600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1100" b="0">
                <a:solidFill>
                  <a:srgbClr val="F3F0E8"/>
                </a:solidFill>
                <a:latin typeface="Avenir Next"/>
                <a:ea typeface="Avenir Next"/>
                <a:cs typeface="Avenir Next"/>
                <a:hlinkClick r:id="rId4"/>
              </a:rPr>
              <a:t>OpenSSF Scorecard</a:t>
            </a:r>
            <a:endParaRPr sz="1100" b="0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A5E06FA-BB85-48E0-8ABB-D4D1D6E99ACA}"/>
              </a:ext>
            </a:extLst>
          </p:cNvPr>
          <p:cNvSpPr>
            <a:spLocks noGrp="1"/>
          </p:cNvSpPr>
          <p:nvPr/>
        </p:nvSpPr>
        <p:spPr>
          <a:xfrm>
            <a:off x="742950" y="6391497"/>
            <a:ext cx="685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Exact inputs, weights and thresholds are provisional.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EAE156E-D307-F432-15D9-23BE7E28D08A}"/>
              </a:ext>
            </a:extLst>
          </p:cNvPr>
          <p:cNvSpPr>
            <a:spLocks noGrp="1"/>
          </p:cNvSpPr>
          <p:nvPr/>
        </p:nvSpPr>
        <p:spPr>
          <a:xfrm>
            <a:off x="781050" y="5884545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defRPr sz="750" b="1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lang="en-AU" sz="1100" b="1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HUMAN-SUPPLIED INPUTS</a:t>
            </a:r>
            <a:endParaRPr sz="1100" b="1">
              <a:solidFill>
                <a:srgbClr val="AAB4C2"/>
              </a:solidFill>
              <a:latin typeface="Avenir Next"/>
              <a:ea typeface="Avenir Next"/>
              <a:cs typeface="Avenir Nex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A252EF-BA3A-7B79-E237-25B50632D75B}"/>
              </a:ext>
            </a:extLst>
          </p:cNvPr>
          <p:cNvSpPr>
            <a:spLocks noGrp="1"/>
          </p:cNvSpPr>
          <p:nvPr/>
        </p:nvSpPr>
        <p:spPr>
          <a:xfrm>
            <a:off x="2238375" y="5846445"/>
            <a:ext cx="600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defRPr sz="900" b="0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lang="en-AU" sz="1100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Security audit records, industry usage evidence</a:t>
            </a:r>
            <a:endParaRPr sz="1100" b="0">
              <a:solidFill>
                <a:srgbClr val="F3F0E8"/>
              </a:solidFill>
              <a:latin typeface="Avenir Next"/>
              <a:ea typeface="Avenir Next"/>
              <a:cs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9944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yebrow-6">
            <a:extLst>
              <a:ext uri="{FF2B5EF4-FFF2-40B4-BE49-F238E27FC236}">
                <a16:creationId xmlns:a16="http://schemas.microsoft.com/office/drawing/2014/main" id="{C666051D-BCF2-4F2A-BBC0-A2313D2D7317}"/>
              </a:ext>
            </a:extLst>
          </p:cNvPr>
          <p:cNvSpPr>
            <a:spLocks noGrp="1"/>
          </p:cNvSpPr>
          <p:nvPr/>
        </p:nvSpPr>
        <p:spPr>
          <a:xfrm>
            <a:off x="742950" y="361950"/>
            <a:ext cx="3429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82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SCALA ECOSYSTEM SECURITY MODEL</a:t>
            </a:r>
          </a:p>
        </p:txBody>
      </p:sp>
      <p:sp>
        <p:nvSpPr>
          <p:cNvPr id="2" name="page-6">
            <a:extLst>
              <a:ext uri="{FF2B5EF4-FFF2-40B4-BE49-F238E27FC236}">
                <a16:creationId xmlns:a16="http://schemas.microsoft.com/office/drawing/2014/main" id="{71DA8C8F-5DA7-4C4A-BC75-68C631145311}"/>
              </a:ext>
            </a:extLst>
          </p:cNvPr>
          <p:cNvSpPr>
            <a:spLocks noGrp="1"/>
          </p:cNvSpPr>
          <p:nvPr/>
        </p:nvSpPr>
        <p:spPr>
          <a:xfrm>
            <a:off x="11353800" y="3810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597085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title-6">
            <a:extLst>
              <a:ext uri="{FF2B5EF4-FFF2-40B4-BE49-F238E27FC236}">
                <a16:creationId xmlns:a16="http://schemas.microsoft.com/office/drawing/2014/main" id="{F0590971-D82B-45CA-8050-D66510F081E9}"/>
              </a:ext>
            </a:extLst>
          </p:cNvPr>
          <p:cNvSpPr>
            <a:spLocks noGrp="1"/>
          </p:cNvSpPr>
          <p:nvPr/>
        </p:nvSpPr>
        <p:spPr>
          <a:xfrm>
            <a:off x="742950" y="742950"/>
            <a:ext cx="10706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Iterative Model Design Workflow</a:t>
            </a:r>
          </a:p>
        </p:txBody>
      </p:sp>
      <p:sp>
        <p:nvSpPr>
          <p:cNvPr id="4" name="rule-6">
            <a:extLst>
              <a:ext uri="{FF2B5EF4-FFF2-40B4-BE49-F238E27FC236}">
                <a16:creationId xmlns:a16="http://schemas.microsoft.com/office/drawing/2014/main" id="{61055547-2E7C-4CCB-ADBE-03E0E341E667}"/>
              </a:ext>
            </a:extLst>
          </p:cNvPr>
          <p:cNvSpPr>
            <a:spLocks noGrp="1"/>
          </p:cNvSpPr>
          <p:nvPr/>
        </p:nvSpPr>
        <p:spPr>
          <a:xfrm>
            <a:off x="647700" y="1352550"/>
            <a:ext cx="10896600" cy="0"/>
          </a:xfrm>
          <a:prstGeom prst="line">
            <a:avLst/>
          </a:prstGeom>
          <a:noFill/>
          <a:ln w="9525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5BCF9-129A-48B7-8D68-385595935933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4–6 WEEKS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22575D64-8A30-4591-AC94-2D9B8622D17F}"/>
              </a:ext>
            </a:extLst>
          </p:cNvPr>
          <p:cNvSpPr>
            <a:spLocks noGrp="1"/>
          </p:cNvSpPr>
          <p:nvPr/>
        </p:nvSpPr>
        <p:spPr>
          <a:xfrm>
            <a:off x="1066800" y="3009900"/>
            <a:ext cx="9010650" cy="0"/>
          </a:xfrm>
          <a:prstGeom prst="line">
            <a:avLst/>
          </a:prstGeom>
          <a:noFill/>
          <a:ln w="38100">
            <a:solidFill>
              <a:srgbClr val="2A3B4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5641B7F-4AC1-4168-BFF3-EF0FACABCC96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571500" cy="571500"/>
          </a:xfrm>
          <a:prstGeom prst="ellipse">
            <a:avLst/>
          </a:prstGeom>
          <a:solidFill>
            <a:srgbClr val="55D9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42551-32E9-4624-A951-A3FA8DEDE42D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A3B3D0-F6AB-4D8B-971B-2EF02F0896E5}"/>
              </a:ext>
            </a:extLst>
          </p:cNvPr>
          <p:cNvSpPr>
            <a:spLocks noGrp="1"/>
          </p:cNvSpPr>
          <p:nvPr/>
        </p:nvSpPr>
        <p:spPr>
          <a:xfrm>
            <a:off x="704850" y="35433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SELECT SUBSET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EADA83-DA8C-4926-B78F-D2D5C4757AB3}"/>
              </a:ext>
            </a:extLst>
          </p:cNvPr>
          <p:cNvSpPr>
            <a:spLocks noGrp="1"/>
          </p:cNvSpPr>
          <p:nvPr/>
        </p:nvSpPr>
        <p:spPr>
          <a:xfrm>
            <a:off x="704850" y="40005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Choose a small Scala subset.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08BFCD-E69C-4491-8F68-79B4B07841AF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571500" cy="571500"/>
          </a:xfrm>
          <a:prstGeom prst="ellipse">
            <a:avLst/>
          </a:prstGeom>
          <a:solidFill>
            <a:srgbClr val="55D9D5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9C5F58-BB68-421E-AE1C-F4EC6E1D91C0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B05C18-F922-478A-95ED-2F1D031541E0}"/>
              </a:ext>
            </a:extLst>
          </p:cNvPr>
          <p:cNvSpPr>
            <a:spLocks noGrp="1"/>
          </p:cNvSpPr>
          <p:nvPr/>
        </p:nvSpPr>
        <p:spPr>
          <a:xfrm>
            <a:off x="2647950" y="35433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55D9D5"/>
                </a:solidFill>
                <a:latin typeface="Avenir Next"/>
                <a:ea typeface="Avenir Next"/>
                <a:cs typeface="Avenir Next"/>
              </a:rPr>
              <a:t>BUILD GRAPH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BC745B-378D-4C9E-8B15-7FBB014D96AC}"/>
              </a:ext>
            </a:extLst>
          </p:cNvPr>
          <p:cNvSpPr>
            <a:spLocks noGrp="1"/>
          </p:cNvSpPr>
          <p:nvPr/>
        </p:nvSpPr>
        <p:spPr>
          <a:xfrm>
            <a:off x="2647950" y="40005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Extract software dependencies.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B7B589A-7B42-44C4-A74B-46059868290E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571500" cy="571500"/>
          </a:xfrm>
          <a:prstGeom prst="ellipse">
            <a:avLst/>
          </a:prstGeom>
          <a:solidFill>
            <a:srgbClr val="FFD16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8A59EE-AD1C-47FC-8389-0EF267816019}"/>
              </a:ext>
            </a:extLst>
          </p:cNvPr>
          <p:cNvSpPr>
            <a:spLocks noGrp="1"/>
          </p:cNvSpPr>
          <p:nvPr/>
        </p:nvSpPr>
        <p:spPr>
          <a:xfrm>
            <a:off x="4762500" y="2724150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0C2CD-D435-4482-9A78-99BD291E1FE4}"/>
              </a:ext>
            </a:extLst>
          </p:cNvPr>
          <p:cNvSpPr>
            <a:spLocks noGrp="1"/>
          </p:cNvSpPr>
          <p:nvPr/>
        </p:nvSpPr>
        <p:spPr>
          <a:xfrm>
            <a:off x="4591050" y="35433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INITIAL SCORES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48DA06-26A0-40F8-AD02-06E1B9C634D4}"/>
              </a:ext>
            </a:extLst>
          </p:cNvPr>
          <p:cNvSpPr>
            <a:spLocks noGrp="1"/>
          </p:cNvSpPr>
          <p:nvPr/>
        </p:nvSpPr>
        <p:spPr>
          <a:xfrm>
            <a:off x="4591050" y="40005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Calculate initial V, M and S scores.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6CE71E1-A4E6-4480-BD1B-12E368D390F7}"/>
              </a:ext>
            </a:extLst>
          </p:cNvPr>
          <p:cNvSpPr>
            <a:spLocks noGrp="1"/>
          </p:cNvSpPr>
          <p:nvPr/>
        </p:nvSpPr>
        <p:spPr>
          <a:xfrm>
            <a:off x="6705600" y="2724150"/>
            <a:ext cx="571500" cy="571500"/>
          </a:xfrm>
          <a:prstGeom prst="ellipse">
            <a:avLst/>
          </a:prstGeom>
          <a:solidFill>
            <a:srgbClr val="A6DF6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601FF9-4093-4060-AAFD-636A57379B21}"/>
              </a:ext>
            </a:extLst>
          </p:cNvPr>
          <p:cNvSpPr>
            <a:spLocks noGrp="1"/>
          </p:cNvSpPr>
          <p:nvPr/>
        </p:nvSpPr>
        <p:spPr>
          <a:xfrm>
            <a:off x="6705600" y="2724150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66143F-D07D-4D6F-A10C-5B707550F187}"/>
              </a:ext>
            </a:extLst>
          </p:cNvPr>
          <p:cNvSpPr>
            <a:spLocks noGrp="1"/>
          </p:cNvSpPr>
          <p:nvPr/>
        </p:nvSpPr>
        <p:spPr>
          <a:xfrm>
            <a:off x="6534150" y="35433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defRPr>
            </a:pPr>
            <a:r>
              <a:rPr lang="en-US"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EXPERT </a:t>
            </a:r>
            <a:r>
              <a:rPr sz="975" b="1">
                <a:solidFill>
                  <a:srgbClr val="A6DF66"/>
                </a:solidFill>
                <a:latin typeface="Avenir Next"/>
                <a:ea typeface="Avenir Next"/>
                <a:cs typeface="Avenir Next"/>
              </a:rPr>
              <a:t>REVIEW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BCD269-DEE3-4437-9BF2-1085697CB709}"/>
              </a:ext>
            </a:extLst>
          </p:cNvPr>
          <p:cNvSpPr>
            <a:spLocks noGrp="1"/>
          </p:cNvSpPr>
          <p:nvPr/>
        </p:nvSpPr>
        <p:spPr>
          <a:xfrm>
            <a:off x="6534150" y="40005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Review results with Scala and </a:t>
            </a:r>
            <a:r>
              <a:rPr lang="en-AU"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security</a:t>
            </a:r>
            <a:r>
              <a: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 experts.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747DAB-9B14-4E31-8509-86C4C9CAC0B0}"/>
              </a:ext>
            </a:extLst>
          </p:cNvPr>
          <p:cNvSpPr>
            <a:spLocks noGrp="1"/>
          </p:cNvSpPr>
          <p:nvPr/>
        </p:nvSpPr>
        <p:spPr>
          <a:xfrm>
            <a:off x="8648700" y="2724150"/>
            <a:ext cx="571500" cy="571500"/>
          </a:xfrm>
          <a:prstGeom prst="ellipse">
            <a:avLst/>
          </a:prstGeom>
          <a:solidFill>
            <a:srgbClr val="FF7C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C3E901-6651-4553-8C90-02D1CE865549}"/>
              </a:ext>
            </a:extLst>
          </p:cNvPr>
          <p:cNvSpPr>
            <a:spLocks noGrp="1"/>
          </p:cNvSpPr>
          <p:nvPr/>
        </p:nvSpPr>
        <p:spPr>
          <a:xfrm>
            <a:off x="8648700" y="2724150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07111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413E7FD-1790-4593-9D28-6421B12D10DC}"/>
              </a:ext>
            </a:extLst>
          </p:cNvPr>
          <p:cNvSpPr>
            <a:spLocks noGrp="1"/>
          </p:cNvSpPr>
          <p:nvPr/>
        </p:nvSpPr>
        <p:spPr>
          <a:xfrm>
            <a:off x="8477250" y="3543300"/>
            <a:ext cx="1466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REVISE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5EB584-2815-41D6-8FA1-F2A02341A6E5}"/>
              </a:ext>
            </a:extLst>
          </p:cNvPr>
          <p:cNvSpPr>
            <a:spLocks noGrp="1"/>
          </p:cNvSpPr>
          <p:nvPr/>
        </p:nvSpPr>
        <p:spPr>
          <a:xfrm>
            <a:off x="8477250" y="4000500"/>
            <a:ext cx="14668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AAB4C2"/>
                </a:solidFill>
                <a:latin typeface="Avenir Next"/>
                <a:ea typeface="Avenir Next"/>
                <a:cs typeface="Avenir Next"/>
              </a:rPr>
              <a:t>Adjust inputs, weights and graph coverage.</a:t>
            </a:r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A2AC2263-60C1-4D59-88A6-86CB8D9F1BF1}"/>
              </a:ext>
            </a:extLst>
          </p:cNvPr>
          <p:cNvSpPr>
            <a:spLocks noGrp="1"/>
          </p:cNvSpPr>
          <p:nvPr/>
        </p:nvSpPr>
        <p:spPr>
          <a:xfrm>
            <a:off x="10725150" y="2266950"/>
            <a:ext cx="0" cy="3086100"/>
          </a:xfrm>
          <a:prstGeom prst="line">
            <a:avLst/>
          </a:prstGeom>
          <a:noFill/>
          <a:ln w="47625">
            <a:solidFill>
              <a:srgbClr val="FF7C6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17BED6-2693-4506-8D48-897CCEF28833}"/>
              </a:ext>
            </a:extLst>
          </p:cNvPr>
          <p:cNvSpPr>
            <a:spLocks noGrp="1"/>
          </p:cNvSpPr>
          <p:nvPr/>
        </p:nvSpPr>
        <p:spPr>
          <a:xfrm>
            <a:off x="10915650" y="2381250"/>
            <a:ext cx="781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7C6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7C67"/>
                </a:solidFill>
                <a:latin typeface="Avenir Next"/>
                <a:ea typeface="Avenir Next"/>
                <a:cs typeface="Avenir Next"/>
              </a:rPr>
              <a:t>MID-OCT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AA429B2-70BB-4E71-902A-003AA727BE26}"/>
              </a:ext>
            </a:extLst>
          </p:cNvPr>
          <p:cNvSpPr>
            <a:spLocks noGrp="1"/>
          </p:cNvSpPr>
          <p:nvPr/>
        </p:nvSpPr>
        <p:spPr>
          <a:xfrm>
            <a:off x="10801350" y="2895600"/>
            <a:ext cx="10096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FUNDING</a:t>
            </a:r>
          </a:p>
          <a:p>
            <a:pPr algn="ctr">
              <a:buNone/>
              <a:def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3F0E8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84574C0B-FC88-4B4D-8AFE-114CE6B4747C}"/>
              </a:ext>
            </a:extLst>
          </p:cNvPr>
          <p:cNvSpPr>
            <a:spLocks noGrp="1"/>
          </p:cNvSpPr>
          <p:nvPr/>
        </p:nvSpPr>
        <p:spPr>
          <a:xfrm>
            <a:off x="9848850" y="2819400"/>
            <a:ext cx="723900" cy="381000"/>
          </a:xfrm>
          <a:prstGeom prst="rightArrow">
            <a:avLst/>
          </a:prstGeom>
          <a:solidFill>
            <a:srgbClr val="FF7C67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936744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576</Words>
  <Application>Microsoft Macintosh PowerPoint</Application>
  <DocSecurity>0</DocSecurity>
  <PresentationFormat>Widescreen</PresentationFormat>
  <Paragraphs>130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Avenir Next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Anatolii Kmetiuk</cp:lastModifiedBy>
  <cp:revision>28</cp:revision>
  <cp:lastPrinted>2026-09-03T08:04:37Z</cp:lastPrinted>
  <dcterms:created xsi:type="dcterms:W3CDTF">2026-09-03T07:42:26Z</dcterms:created>
  <dcterms:modified xsi:type="dcterms:W3CDTF">2026-09-03T13:25:49Z</dcterms:modified>
</cp:coreProperties>
</file>